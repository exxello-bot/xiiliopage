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E2419"/>
          </a:solidFill>
          <a:ln w="12700">
            <a:solidFill>
              <a:srgbClr val="0E24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109728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310896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231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Security &amp;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971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&amp; USA Compliance Guide  ·  March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206240"/>
            <a:ext cx="2560320" cy="347472"/>
          </a:xfrm>
          <a:prstGeom prst="rect">
            <a:avLst>
              <a:gd name="adj" fmla="val 13158"/>
            </a:avLst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206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18"/>
                </a:solidFill>
              </a:rPr>
              <a:t>letsgo@xillio.io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94960" y="457200"/>
            <a:ext cx="3383280" cy="12801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77840" y="5486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577840" y="1143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operation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94960" y="1965960"/>
            <a:ext cx="3383280" cy="12801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77840" y="20574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57784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standard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94960" y="3474720"/>
            <a:ext cx="3383280" cy="12801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77840" y="35661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+ USA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5778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coverage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7772400" y="41148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Xiilio.ai is an AI-driven lead generation and autonomous growth platform operating 24/7. As a platform that processes sensitive customer and prospect data, robust security and data protection are foundational to sustainable growth and client trust.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2743200" cy="11887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2677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240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" y="26700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protected in transit and at rest with AES-256 &amp; TLS 1.3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2103120"/>
            <a:ext cx="2743200" cy="11887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2677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2240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Access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10712" y="26700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RBAC, and adaptive authentication across all accounts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72200" y="2103120"/>
            <a:ext cx="2743200" cy="11887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26771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2240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Detection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336792" y="26700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monitoring and automated incident response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3474720"/>
            <a:ext cx="2743200" cy="11887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63931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611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Dual-Market Compliance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84632" y="40416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UK GDPR/DPA 2018 and US CCPA/state law compliance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46120" y="3474720"/>
            <a:ext cx="2743200" cy="11887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63931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40480" y="3611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Assurance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410712" y="40416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II, ISO 27001, Cyber Essentials, annual pen testing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72200" y="3474720"/>
            <a:ext cx="2743200" cy="11887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63931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66560" y="36118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336792" y="4041648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built into architecture — not bolted on afterwards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ABOUT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Xiilio.ai &amp; the CRM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338328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3383280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Xiilio.ai Does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Xiilio.ai combines AI agents, performance marketing, and intelligent CRM connectivity to deliver a continuous pipeline of qualified leads — autonomously, around the clock.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Processed Daily: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&amp; lead contact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&amp; engagement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records (Salesforce, HubSpot, Pipedrive)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enriched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business &amp; sales strategy information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069080" cy="1024128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490472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94960" y="1325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Autonomous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0" y="1709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operate around the clock with no human intervention required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2404872"/>
            <a:ext cx="4069080" cy="1024128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660904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2496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39496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Seamless, scoped connection to leading CRM platforms with data minimisation controls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3575304"/>
            <a:ext cx="4069080" cy="1024128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83133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94960" y="36667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Outreach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394960" y="40507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thousands of prospects per minute, delivering precision-targeted campaigns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SECURITY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Access Control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14173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 encrypted with TLS 1.3. Older protocol versions disabled.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2011680" cy="14173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298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1691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9933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stored data encrypted to financial/government-grade AES-256 standard.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2011680" cy="14173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98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Pipelines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9933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sequences operate within encrypted channels end-to-end.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2011680" cy="141732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298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1691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19933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stored separately from data, rotated on defined schedules.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Architecture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2011680" cy="1417320"/>
          </a:xfrm>
          <a:prstGeom prst="rect">
            <a:avLst/>
          </a:prstGeom>
          <a:solidFill>
            <a:srgbClr val="0D3B28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644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required for all accounts. Hardware security keys for privileged users.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3200400"/>
            <a:ext cx="2011680" cy="1417320"/>
          </a:xfrm>
          <a:prstGeom prst="rect">
            <a:avLst/>
          </a:prstGeom>
          <a:solidFill>
            <a:srgbClr val="0D3B28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2644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370332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RBAC enforced. Each role accesses only what the job requires.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200400"/>
            <a:ext cx="2011680" cy="1417320"/>
          </a:xfrm>
          <a:prstGeom prst="rect">
            <a:avLst/>
          </a:prstGeom>
          <a:solidFill>
            <a:srgbClr val="0D3B28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644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Auth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70332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assesses login risk by device, location, time &amp; behaviour — adds steps when needed.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3200400"/>
            <a:ext cx="2011680" cy="1417320"/>
          </a:xfrm>
          <a:prstGeom prst="rect">
            <a:avLst/>
          </a:prstGeom>
          <a:solidFill>
            <a:srgbClr val="0D3B28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2644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370332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sessions, auto-expiry on inactivity, concurrent session prevention.</a:t>
            </a:r>
            <a:endParaRPr lang="en-US" sz="9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321040" y="502920"/>
            <a:ext cx="548640" cy="54864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SECURITY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Threat Detection &amp; DLP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5120640" cy="338328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64008" cy="3383280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Capabilities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79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7830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 user behaviour, API calls &amp; access logs continuously. Suspicious activity triggers automated alerts.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780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4231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Prevention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22960" y="26974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patterns and login sequences are analysed to detect and block fraudulent activity instantly.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1810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3063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Protection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22960" y="33375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controls prevent malicious inputs from hijacking AI agents to exfiltrate data.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581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7033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Security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22960" y="39776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third-party integrations are assessed; contractual data-handling requirements enforced on every partner.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9826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4343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Incident Response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46177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threats trigger automatic isolation, credential revocation &amp; security team alerts within seconds.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5669280" y="1234440"/>
            <a:ext cx="3154680" cy="3383280"/>
          </a:xfrm>
          <a:prstGeom prst="rect">
            <a:avLst/>
          </a:prstGeom>
          <a:solidFill>
            <a:srgbClr val="112B1E"/>
          </a:solidFill>
          <a:ln w="9525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5833872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833872" y="1783080"/>
            <a:ext cx="2834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define sensitivity classification rules to prevent unauthorised data export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 all data movement in real time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and download activity logged with full audit trails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access only the CRM fields required for each specific task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lists enforced automatically across all outreach campaigns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8321040" y="502920"/>
            <a:ext cx="548640" cy="5486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UK COMPLIANCE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Kingdom: UK GDPR &amp; DPA 2018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by the Information Commissioner's Office (ICO)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72768"/>
            <a:ext cx="54864" cy="68580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184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1901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interest for B2B prospecting; consent available where required. Documented per activity.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72768"/>
            <a:ext cx="54864" cy="68580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6184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1901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collect only the personal data necessary for the specific task at hand.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35000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50008"/>
            <a:ext cx="54864" cy="68580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395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" y="26791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 repurposed without appropriate disclosure and, where necessary, fresh consent.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35000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50008"/>
            <a:ext cx="54864" cy="68580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395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9472" y="26791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retention policies ensure data is held only as long as operationally necessary.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127248"/>
            <a:ext cx="54864" cy="68580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1729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" y="34564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rectification, erasure, portability &amp; objection — exercisable via self-service portal.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12724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127248"/>
            <a:ext cx="54864" cy="68580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1729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Requirement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9472" y="34564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Impact Assessments conducted for all high-risk AI processing activities.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90448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904488"/>
            <a:ext cx="54864" cy="68580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9502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Transfers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" y="42336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IDTAs or adequacy decisions govern all transfers of UK personal data outside the UK.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90448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904488"/>
            <a:ext cx="54864" cy="68580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502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Registration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19472" y="42336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Xiilio.ai maintains appropriate ICO registration as controller and/or processor.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C3B6E"/>
          </a:solidFill>
          <a:ln w="12700">
            <a:solidFill>
              <a:srgbClr val="3C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USA COMPLIANCE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States: CCPA &amp; State Privacy Laws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patchwork of state laws plus sector-specific federal regulations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72768"/>
            <a:ext cx="54864" cy="6858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184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/ CPRA Rights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1901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may know, opt-out &amp; delete. Xiilio.ai never sells personal data without disclosure.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72768"/>
            <a:ext cx="54864" cy="6858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6184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Mechanisms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190195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processes customer PII, opt-out rights are clearly disclosed and technically enforced.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35000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50008"/>
            <a:ext cx="54864" cy="6858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395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Notices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" y="26791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plain-language notices explain all data collection and AI-driven processing practices.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235000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50008"/>
            <a:ext cx="54864" cy="6858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395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State Laws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19472" y="267919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 of VA, CO, CT, TX and other state privacy laws as they come into force.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127248"/>
            <a:ext cx="54864" cy="6858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1729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CAN-SPAM / TCPA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" y="34564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outreach configured with required opt-out links; suppression lists enforced automatically.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12724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127248"/>
            <a:ext cx="54864" cy="6858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1729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Rules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9472" y="34564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HIPAA or GLBA controls available for healthcare and financial services clients.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90448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904488"/>
            <a:ext cx="54864" cy="6858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9502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AI Guidance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" y="42336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transparency and explainability principles applied to all AI lead scoring models.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904488"/>
            <a:ext cx="4206240" cy="685800"/>
          </a:xfrm>
          <a:prstGeom prst="rect">
            <a:avLst/>
          </a:prstGeom>
          <a:solidFill>
            <a:srgbClr val="112B1E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904488"/>
            <a:ext cx="54864" cy="6858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502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Privacy Watch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19472" y="423367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Xiilio.ai monitors emerging federal privacy legislation to adapt proactively ahead of enactment.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COMPLIANCE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vs USA: Side-by-Side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329184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2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4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2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(UK GDPR / DPA 2018)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4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2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(CCPA / State Laws)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40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Lawful Basis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Legitimate interest, consent, or 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purpose; sector consent where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Rights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Access, rectify, erase, port,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to know, delete, opt out of 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Transfers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IDTA or adequacy decision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SCCs for EU; state laws evolving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 within 72 hrs; individuals without undue delay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AG: 30–90 days; sector rules apply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DPIA required; AI Act alignment considered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2C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FTC guidance on fairness; sector rules emerging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2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schedule; automated deletion enforced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Purpose-limited; deletion within 45–90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5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1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GOVERNANCE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Privacy by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664208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35608"/>
            <a:ext cx="420624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234440"/>
            <a:ext cx="64008" cy="1664208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3441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3272" y="173736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impact review before every deployment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 enforced at architecture level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privacy-protective defaults configured by default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4206240" cy="1664208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35608"/>
            <a:ext cx="420624" cy="42062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54880" y="1234440"/>
            <a:ext cx="64008" cy="16642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68112" y="13441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Transparency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68112" y="173736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withdrawal technically enforced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explainability traces every prediction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processing notices for all individuals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3063240"/>
            <a:ext cx="4206240" cy="1664208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64408"/>
            <a:ext cx="420624" cy="42062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20040" y="3063240"/>
            <a:ext cx="64008" cy="16642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33272" y="31729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33272" y="356616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logs of all data access &amp; changes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per UK and USA regulatory minimums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for compliance investigations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3063240"/>
            <a:ext cx="4206240" cy="1664208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264408"/>
            <a:ext cx="420624" cy="42062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754880" y="3063240"/>
            <a:ext cx="64008" cy="166420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468112" y="31729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68112" y="356616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Pre-engagement security assessments mandatory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agreements per GDPR Art. 28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compliance review of all sub-processors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INCIDENT RESPONSE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Business Continuity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21945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011680" cy="502920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17556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monitoring flags anomaly instantly. Incident classified by severity.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1234440"/>
            <a:ext cx="2011680" cy="21945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234440"/>
            <a:ext cx="2011680" cy="5029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36392" y="12984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33472" y="1847088"/>
            <a:ext cx="17556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isolation of affected systems. Compromised credentials revoked.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72584" y="1234440"/>
            <a:ext cx="2011680" cy="21945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234440"/>
            <a:ext cx="201168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12664" y="12984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9744" y="1847088"/>
            <a:ext cx="17556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regulators (ICO / State AGs) and individuals notified within required timelines.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234440"/>
            <a:ext cx="2011680" cy="21945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234440"/>
            <a:ext cx="201168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88936" y="12984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86016" y="1847088"/>
            <a:ext cx="17556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BCP &amp; DR plans invoked. RTO / RPO targets met. Full post-incident review.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611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Notification Timelines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005072"/>
            <a:ext cx="2011680" cy="685800"/>
          </a:xfrm>
          <a:prstGeom prst="rect">
            <a:avLst/>
          </a:prstGeom>
          <a:solidFill>
            <a:srgbClr val="0D3B28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32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ICO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hours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becoming aware of breach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96312" y="4005072"/>
            <a:ext cx="2011680" cy="685800"/>
          </a:xfrm>
          <a:prstGeom prst="rect">
            <a:avLst/>
          </a:prstGeom>
          <a:solidFill>
            <a:srgbClr val="0D3B28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4032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Individuals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87752" y="4261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undue delay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87752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high risk to rights &amp; freedoms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72584" y="4005072"/>
            <a:ext cx="2011680" cy="685800"/>
          </a:xfrm>
          <a:prstGeom prst="rect">
            <a:avLst/>
          </a:prstGeom>
          <a:solidFill>
            <a:srgbClr val="0D3B28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4032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 AGs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64024" y="4261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64024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state and sector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48856" y="4005072"/>
            <a:ext cx="2011680" cy="685800"/>
          </a:xfrm>
          <a:prstGeom prst="rect">
            <a:avLst/>
          </a:prstGeom>
          <a:solidFill>
            <a:srgbClr val="0D3B28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0296" y="4032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40296" y="4261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0296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or alongside regulatory notice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ASSURANCE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Certifications &amp; Independent Assurance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92024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7315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" y="2011680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independent assessment of security, availability, integrity, confidentiality &amp; privacy controls.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27832" y="1234440"/>
            <a:ext cx="2743200" cy="192024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7832" y="1234440"/>
            <a:ext cx="27432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3716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5072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92424" y="2011680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Systematic, risk-based approach to protecting all information assets via certified ISMS.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35624" y="1234440"/>
            <a:ext cx="2743200" cy="192024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35624" y="1234440"/>
            <a:ext cx="27432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3716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12864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00216" y="2011680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third-party pen tests simulate real-world attack scenarios to identify and remediate vulnerabilities.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291840"/>
            <a:ext cx="4206240" cy="12801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291840"/>
            <a:ext cx="64008" cy="1280160"/>
          </a:xfrm>
          <a:prstGeom prst="rect">
            <a:avLst/>
          </a:prstGeom>
          <a:solidFill>
            <a:srgbClr val="CF142B"/>
          </a:solidFill>
          <a:ln w="12700">
            <a:solidFill>
              <a:srgbClr val="CF142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5643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8408" y="33649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Readiness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78408" y="3749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UK GDPR compliance assessment covering DPIAs, data flows, and sub-processor agreements.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754880" y="3291840"/>
            <a:ext cx="4206240" cy="12801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0" y="3291840"/>
            <a:ext cx="64008" cy="12801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564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13248" y="33649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Essentials (UK)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13248" y="3749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Government certification confirming fundamental cyber hygiene controls are in place and verified.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218"/>
                </a:solidFill>
              </a:rPr>
              <a:t>CLIENT GUIDE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69080" cy="338328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069080" cy="4572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Xiilio.ai Secures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infrastructure &amp; AI agent pipelines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in transit and at rest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authentication architecture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threat monitoring &amp; DLP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framework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certifications &amp; audits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 &amp; response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69080" cy="3383280"/>
          </a:xfrm>
          <a:prstGeom prst="rect">
            <a:avLst/>
          </a:prstGeom>
          <a:solidFill>
            <a:srgbClr val="112B1E"/>
          </a:solidFill>
          <a:ln w="9525">
            <a:solidFill>
              <a:srgbClr val="C894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4069080" cy="457200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Configures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7830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accurate user account records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for all staff accounts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RBAC configurations regularly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privacy notices up to date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DPIAs for high-risk activities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Article 30 processing register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staff on social engineering threats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527"/>
          </a:solidFill>
          <a:ln w="12700">
            <a:solidFill>
              <a:srgbClr val="0F35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2C5C0"/>
                </a:solidFill>
              </a:rPr>
              <a:t>XIILIO.AI  ·  CRM Security &amp; Data Protection  ·  Confidential  · 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223760" y="4892040"/>
            <a:ext cx="1645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letsgo@xillio.io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940C"/>
          </a:solidFill>
          <a:ln w="12700">
            <a:solidFill>
              <a:srgbClr val="C8940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274320"/>
            <a:ext cx="310896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574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 Compliance. Trust.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Xiilio.ai's security framework is built for the most rigorous data protection environments in the world — the United Kingdom and the United States. Because the next top performer isn't just capable. It's trustworthy.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560320" y="3840480"/>
            <a:ext cx="4023360" cy="822960"/>
          </a:xfrm>
          <a:prstGeom prst="rect">
            <a:avLst/>
          </a:prstGeom>
          <a:solidFill>
            <a:srgbClr val="112B1E"/>
          </a:solidFill>
          <a:ln w="9525">
            <a:solidFill>
              <a:srgbClr val="17A5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97764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46120" y="3913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touch: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46120" y="41879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letsgo@xillio.io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2860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xiilio.ai  ·  © 2026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Xiilio.ai – CRM Security &amp; Data Protection</dc:title>
  <dc:subject>PptxGenJS Presentation</dc:subject>
  <dc:creator>Xiilio.ai</dc:creator>
  <cp:lastModifiedBy>Xiilio.ai</cp:lastModifiedBy>
  <cp:revision>1</cp:revision>
  <dcterms:created xsi:type="dcterms:W3CDTF">2026-03-24T12:40:31Z</dcterms:created>
  <dcterms:modified xsi:type="dcterms:W3CDTF">2026-03-24T12:40:31Z</dcterms:modified>
</cp:coreProperties>
</file>